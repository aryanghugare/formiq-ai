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5323"/>
          </a:solidFill>
          <a:ln>
            <a:solidFill>
              <a:srgbClr val="F25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96CDFF"/>
                </a:solidFill>
                <a:latin typeface="Aptos"/>
              </a:rPr>
              <a:t>KUMKANG KIND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FORMIQ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57400"/>
            <a:ext cx="8869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Formwork Intelligence, Quality &amp; Revision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C3DCFA"/>
                </a:solidFill>
                <a:latin typeface="Aptos"/>
              </a:rPr>
              <a:t>Every drawing checked. Every revision traced. Every risk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731520"/>
            <a:ext cx="2743200" cy="5166360"/>
          </a:xfrm>
          <a:prstGeom prst="roundRect">
            <a:avLst/>
          </a:prstGeom>
          <a:solidFill>
            <a:srgbClr val="143A7E"/>
          </a:solidFill>
          <a:ln>
            <a:solidFill>
              <a:srgbClr val="408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052560" y="1234440"/>
            <a:ext cx="2057400" cy="0"/>
          </a:xfrm>
          <a:prstGeom prst="line">
            <a:avLst/>
          </a:prstGeom>
          <a:ln>
            <a:solidFill>
              <a:srgbClr val="52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965960"/>
            <a:ext cx="2057400" cy="0"/>
          </a:xfrm>
          <a:prstGeom prst="line">
            <a:avLst/>
          </a:prstGeom>
          <a:ln>
            <a:solidFill>
              <a:srgbClr val="52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52560" y="2697480"/>
            <a:ext cx="2057400" cy="0"/>
          </a:xfrm>
          <a:prstGeom prst="line">
            <a:avLst/>
          </a:prstGeom>
          <a:ln>
            <a:solidFill>
              <a:srgbClr val="52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52560" y="3429000"/>
            <a:ext cx="2057400" cy="0"/>
          </a:xfrm>
          <a:prstGeom prst="line">
            <a:avLst/>
          </a:prstGeom>
          <a:ln>
            <a:solidFill>
              <a:srgbClr val="52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4160520"/>
            <a:ext cx="2057400" cy="0"/>
          </a:xfrm>
          <a:prstGeom prst="line">
            <a:avLst/>
          </a:prstGeom>
          <a:ln>
            <a:solidFill>
              <a:srgbClr val="52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52560" y="4892040"/>
            <a:ext cx="2057400" cy="0"/>
          </a:xfrm>
          <a:prstGeom prst="line">
            <a:avLst/>
          </a:prstGeom>
          <a:ln>
            <a:solidFill>
              <a:srgbClr val="52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72600" y="1005840"/>
            <a:ext cx="0" cy="4389120"/>
          </a:xfrm>
          <a:prstGeom prst="line">
            <a:avLst/>
          </a:prstGeom>
          <a:ln>
            <a:solidFill>
              <a:srgbClr val="52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58400" y="1005840"/>
            <a:ext cx="0" cy="4389120"/>
          </a:xfrm>
          <a:prstGeom prst="line">
            <a:avLst/>
          </a:prstGeom>
          <a:ln>
            <a:solidFill>
              <a:srgbClr val="52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744200" y="1005840"/>
            <a:ext cx="0" cy="4389120"/>
          </a:xfrm>
          <a:prstGeom prst="line">
            <a:avLst/>
          </a:prstGeom>
          <a:ln>
            <a:solidFill>
              <a:srgbClr val="52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464040" y="1965960"/>
            <a:ext cx="1143000" cy="1325880"/>
          </a:xfrm>
          <a:prstGeom prst="rect">
            <a:avLst/>
          </a:prstGeom>
          <a:solidFill>
            <a:srgbClr val="143A7E"/>
          </a:solidFill>
          <a:ln>
            <a:solidFill>
              <a:srgbClr val="F25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286000"/>
            <a:ext cx="868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074920"/>
            <a:ext cx="4846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AI INNOVATION
CHALLENGE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833872"/>
            <a:ext cx="5212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C3DCFA"/>
                </a:solidFill>
                <a:latin typeface="Aptos"/>
              </a:rPr>
              <a:t>Aluminium Formwork Design Assurance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978"/>
                </a:solidFill>
                <a:latin typeface="Aptos"/>
              </a:rPr>
              <a:t>FORMIQ AI  •  Kumkang Kind AI Innovation Challenge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CB4"/>
                </a:solidFill>
                <a:latin typeface="Aptos"/>
              </a:rPr>
              <a:t>REALISTIC REVISION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C2A67"/>
                </a:solidFill>
                <a:latin typeface="Aptos"/>
              </a:rPr>
              <a:t>A 100 mm Change AI Should Never Let Us Miss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88136"/>
            <a:ext cx="914400" cy="50292"/>
          </a:xfrm>
          <a:prstGeom prst="rect">
            <a:avLst/>
          </a:prstGeom>
          <a:solidFill>
            <a:srgbClr val="F25323"/>
          </a:solidFill>
          <a:ln>
            <a:solidFill>
              <a:srgbClr val="F25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063240" cy="292608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ARCHITECTURAL REV-05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48840"/>
            <a:ext cx="2240280" cy="109728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3703320"/>
            <a:ext cx="2240280" cy="109728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48840"/>
            <a:ext cx="109728" cy="1664208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27832" y="2148840"/>
            <a:ext cx="109728" cy="1664208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64792" y="3657600"/>
            <a:ext cx="960120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1368" y="2880360"/>
            <a:ext cx="868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0C2A67"/>
                </a:solidFill>
                <a:latin typeface="Aptos"/>
              </a:rPr>
              <a:t>D14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913632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5F6978"/>
                </a:solidFill>
                <a:latin typeface="Aptos"/>
              </a:rPr>
              <a:t>900 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417320"/>
            <a:ext cx="3063240" cy="292608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72768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ARCHITECTURAL REV-06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148840"/>
            <a:ext cx="2240280" cy="109728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3703320"/>
            <a:ext cx="2240280" cy="109728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2148840"/>
            <a:ext cx="109728" cy="1664208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93992" y="2148840"/>
            <a:ext cx="109728" cy="1664208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0952" y="3657600"/>
            <a:ext cx="10789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2880360"/>
            <a:ext cx="868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0C2A67"/>
                </a:solidFill>
                <a:latin typeface="Aptos"/>
              </a:rPr>
              <a:t>D14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25323"/>
                </a:solidFill>
                <a:latin typeface="Aptos"/>
              </a:rPr>
              <a:t>1000 mm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417320"/>
            <a:ext cx="3703320" cy="4526280"/>
          </a:xfrm>
          <a:prstGeom prst="roundRect">
            <a:avLst/>
          </a:prstGeom>
          <a:solidFill>
            <a:srgbClr val="FAF5F5"/>
          </a:solidFill>
          <a:ln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627632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C22A2A"/>
                </a:solidFill>
                <a:latin typeface="Aptos"/>
              </a:rPr>
              <a:t>FORMIQ EXCEPTION #014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029968"/>
            <a:ext cx="1508760" cy="292608"/>
          </a:xfrm>
          <a:prstGeom prst="rect">
            <a:avLst/>
          </a:prstGeom>
          <a:solidFill>
            <a:srgbClr val="C22A2A"/>
          </a:solidFill>
          <a:ln>
            <a:solidFill>
              <a:srgbClr val="C22A2A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HIGH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542032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A67"/>
                </a:solidFill>
                <a:latin typeface="Aptos"/>
              </a:rPr>
              <a:t>Door D14 revised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862072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25323"/>
                </a:solidFill>
                <a:latin typeface="Aptos"/>
              </a:rPr>
              <a:t>900 mm  →  1000 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310128"/>
            <a:ext cx="3017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02834"/>
                </a:solidFill>
                <a:latin typeface="Aptos"/>
              </a:rPr>
              <a:t>Current formwork opening: 900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621024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C22A2A"/>
                </a:solidFill>
                <a:latin typeface="Aptos"/>
              </a:rPr>
              <a:t>Mismatch: +100 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02336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02834"/>
                </a:solidFill>
                <a:latin typeface="Aptos"/>
              </a:defRPr>
            </a:pPr>
            <a:r>
              <a:t>• Opening configuration</a:t>
            </a:r>
          </a:p>
          <a:p>
            <a:pPr>
              <a:spcAft>
                <a:spcPts val="800"/>
              </a:spcAft>
              <a:defRPr sz="1200">
                <a:solidFill>
                  <a:srgbClr val="202834"/>
                </a:solidFill>
                <a:latin typeface="Aptos"/>
              </a:defRPr>
            </a:pPr>
            <a:r>
              <a:t>• Adjacent wall-panel arrangement</a:t>
            </a:r>
          </a:p>
          <a:p>
            <a:pPr>
              <a:spcAft>
                <a:spcPts val="800"/>
              </a:spcAft>
              <a:defRPr sz="1200">
                <a:solidFill>
                  <a:srgbClr val="202834"/>
                </a:solidFill>
                <a:latin typeface="Aptos"/>
              </a:defRPr>
            </a:pPr>
            <a:r>
              <a:t>• Dimensions</a:t>
            </a:r>
          </a:p>
          <a:p>
            <a:pPr>
              <a:spcAft>
                <a:spcPts val="800"/>
              </a:spcAft>
              <a:defRPr sz="1200">
                <a:solidFill>
                  <a:srgbClr val="202834"/>
                </a:solidFill>
                <a:latin typeface="Aptos"/>
              </a:defRPr>
            </a:pPr>
            <a:r>
              <a:t>• BOM/fabrication items if released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257800"/>
            <a:ext cx="2834640" cy="347472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DESIGNER REVIEW REQUIRED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46320"/>
            <a:ext cx="6492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C2A67"/>
                </a:solidFill>
                <a:latin typeface="Aptos"/>
              </a:rPr>
              <a:t>FORMIQ finds the change + checks whether the current formwork still matches.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978"/>
                </a:solidFill>
                <a:latin typeface="Aptos"/>
              </a:rPr>
              <a:t>FORMIQ AI  •  Kumkang Kind AI Innovation Challenge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CB4"/>
                </a:solidFill>
                <a:latin typeface="Aptos"/>
              </a:rPr>
              <a:t>ARCHITECTURE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C2A67"/>
                </a:solidFill>
                <a:latin typeface="Aptos"/>
              </a:rPr>
              <a:t>How FORMIQ Thinks Like a Design Checker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88136"/>
            <a:ext cx="914400" cy="50292"/>
          </a:xfrm>
          <a:prstGeom prst="rect">
            <a:avLst/>
          </a:prstGeom>
          <a:solidFill>
            <a:srgbClr val="F25323"/>
          </a:solidFill>
          <a:ln>
            <a:solidFill>
              <a:srgbClr val="F25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99339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8" y="1975104"/>
            <a:ext cx="347472" cy="347472"/>
          </a:xfrm>
          <a:prstGeom prst="rect">
            <a:avLst/>
          </a:prstGeom>
          <a:solidFill>
            <a:srgbClr val="185CB4"/>
          </a:solidFill>
          <a:ln>
            <a:solidFill>
              <a:srgbClr val="18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75104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938528"/>
            <a:ext cx="1234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C2A67"/>
                </a:solidFill>
                <a:latin typeface="Aptos"/>
              </a:rP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1600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Drawing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828800"/>
            <a:ext cx="199339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35808" y="1975104"/>
            <a:ext cx="347472" cy="347472"/>
          </a:xfrm>
          <a:prstGeom prst="rect">
            <a:avLst/>
          </a:prstGeom>
          <a:solidFill>
            <a:srgbClr val="185CB4"/>
          </a:solidFill>
          <a:ln>
            <a:solidFill>
              <a:srgbClr val="18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975104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938528"/>
            <a:ext cx="1234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C2A67"/>
                </a:solidFill>
                <a:latin typeface="Aptos"/>
              </a:rPr>
              <a:t>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04872"/>
            <a:ext cx="1600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Revision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828800"/>
            <a:ext cx="199339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76088" y="1975104"/>
            <a:ext cx="347472" cy="347472"/>
          </a:xfrm>
          <a:prstGeom prst="rect">
            <a:avLst/>
          </a:prstGeom>
          <a:solidFill>
            <a:srgbClr val="185CB4"/>
          </a:solidFill>
          <a:ln>
            <a:solidFill>
              <a:srgbClr val="18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1975104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1938528"/>
            <a:ext cx="1234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C2A67"/>
                </a:solidFill>
                <a:latin typeface="Aptos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04872"/>
            <a:ext cx="1600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Formwork rule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828800"/>
            <a:ext cx="199339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16368" y="1975104"/>
            <a:ext cx="347472" cy="347472"/>
          </a:xfrm>
          <a:prstGeom prst="rect">
            <a:avLst/>
          </a:prstGeom>
          <a:solidFill>
            <a:srgbClr val="185CB4"/>
          </a:solidFill>
          <a:ln>
            <a:solidFill>
              <a:srgbClr val="18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1975104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1938528"/>
            <a:ext cx="1234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C2A67"/>
                </a:solidFill>
                <a:latin typeface="Aptos"/>
              </a:rPr>
              <a:t>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404872"/>
            <a:ext cx="1600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Impact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828800"/>
            <a:ext cx="199339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56648" y="1975104"/>
            <a:ext cx="347472" cy="347472"/>
          </a:xfrm>
          <a:prstGeom prst="rect">
            <a:avLst/>
          </a:prstGeom>
          <a:solidFill>
            <a:srgbClr val="185CB4"/>
          </a:solidFill>
          <a:ln>
            <a:solidFill>
              <a:srgbClr val="18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48" y="1975104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1938528"/>
            <a:ext cx="1234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C2A67"/>
                </a:solidFill>
                <a:latin typeface="Aptos"/>
              </a:rPr>
              <a:t>REUSE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404872"/>
            <a:ext cx="1600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Kumkang Design Memory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88336" y="2450592"/>
            <a:ext cx="201168" cy="0"/>
          </a:xfrm>
          <a:prstGeom prst="line">
            <a:avLst/>
          </a:prstGeom>
          <a:ln w="2540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28616" y="2450592"/>
            <a:ext cx="201167" cy="0"/>
          </a:xfrm>
          <a:prstGeom prst="line">
            <a:avLst/>
          </a:prstGeom>
          <a:ln w="2540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68896" y="2450592"/>
            <a:ext cx="201168" cy="0"/>
          </a:xfrm>
          <a:prstGeom prst="line">
            <a:avLst/>
          </a:prstGeom>
          <a:ln w="2540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09176" y="2450592"/>
            <a:ext cx="201168" cy="0"/>
          </a:xfrm>
          <a:prstGeom prst="line">
            <a:avLst/>
          </a:prstGeom>
          <a:ln w="2540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51560" y="3886200"/>
            <a:ext cx="2926080" cy="1143000"/>
          </a:xfrm>
          <a:prstGeom prst="round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4050791"/>
            <a:ext cx="2560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4370832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Architecture • Structure • Formwork
Old + New Revisions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069080" y="4462272"/>
            <a:ext cx="640080" cy="0"/>
          </a:xfrm>
          <a:prstGeom prst="line">
            <a:avLst/>
          </a:prstGeom>
          <a:ln w="3175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800600" y="3886200"/>
            <a:ext cx="2788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4050791"/>
            <a:ext cx="2423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C2A67"/>
                </a:solidFill>
                <a:latin typeface="Aptos"/>
              </a:rPr>
              <a:t>FORMIQ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4434840"/>
            <a:ext cx="2423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202834"/>
                </a:solidFill>
                <a:latin typeface="Aptos"/>
              </a:rPr>
              <a:t>Changes • Rules • Impact • Knowledge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80960" y="4462272"/>
            <a:ext cx="640080" cy="0"/>
          </a:xfrm>
          <a:prstGeom prst="line">
            <a:avLst/>
          </a:prstGeom>
          <a:ln w="3175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412480" y="3886200"/>
            <a:ext cx="2743200" cy="1143000"/>
          </a:xfrm>
          <a:prstGeom prst="roundRect">
            <a:avLst/>
          </a:prstGeom>
          <a:solidFill>
            <a:srgbClr val="0E7143"/>
          </a:solidFill>
          <a:ln>
            <a:solidFill>
              <a:srgbClr val="0E7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4050791"/>
            <a:ext cx="2377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DESIGNER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434840"/>
            <a:ext cx="2377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Accept • Reject • Investigate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19" y="5486400"/>
            <a:ext cx="8412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0C2A67"/>
                </a:solidFill>
                <a:latin typeface="Aptos"/>
              </a:rPr>
              <a:t>AI finds and explains.  The designer verifies and decides.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978"/>
                </a:solidFill>
                <a:latin typeface="Aptos"/>
              </a:rPr>
              <a:t>FORMIQ AI  •  Kumkang Kind AI Innovation Challenge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CB4"/>
                </a:solidFill>
                <a:latin typeface="Aptos"/>
              </a:rPr>
              <a:t>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C2A67"/>
                </a:solidFill>
                <a:latin typeface="Aptos"/>
              </a:rPr>
              <a:t>From Manual Searching to Intelligent Design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88136"/>
            <a:ext cx="914400" cy="50292"/>
          </a:xfrm>
          <a:prstGeom prst="rect">
            <a:avLst/>
          </a:prstGeom>
          <a:solidFill>
            <a:srgbClr val="F25323"/>
          </a:solidFill>
          <a:ln>
            <a:solidFill>
              <a:srgbClr val="F25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251960"/>
          </a:xfrm>
          <a:prstGeom prst="roundRect">
            <a:avLst/>
          </a:prstGeom>
          <a:solidFill>
            <a:srgbClr val="FAF7F7"/>
          </a:solidFill>
          <a:ln>
            <a:solidFill>
              <a:srgbClr val="E6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17320"/>
            <a:ext cx="5257800" cy="4251960"/>
          </a:xfrm>
          <a:prstGeom prst="roundRect">
            <a:avLst/>
          </a:prstGeom>
          <a:solidFill>
            <a:srgbClr val="F4FAF7"/>
          </a:solidFill>
          <a:ln>
            <a:solidFill>
              <a:srgbClr val="C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09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C22A2A"/>
                </a:solidFill>
                <a:latin typeface="Aptos"/>
              </a:rPr>
              <a:t>TODAY — MANUAL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09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0E7143"/>
                </a:solidFill>
                <a:latin typeface="Aptos"/>
              </a:rPr>
              <a:t>WITH FORMIQ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526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Open multiple drawings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Search visually for revisions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Compare dimensions manually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Check formwork impact manually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Search old projects / ask colleagues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Prepare comments &amp; report manually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94560"/>
            <a:ext cx="4526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Select/upload controlled drawing set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Meaningful changes identified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Geometry/dimensions compared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Affected areas prioritized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Approved previous cases retrieved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  <a:latin typeface="Aptos"/>
              </a:defRPr>
            </a:pPr>
            <a:r>
              <a:t>• Structured review register generated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4754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C22A2A"/>
                </a:solidFill>
                <a:latin typeface="Aptos"/>
              </a:rPr>
              <a:t>Designer spends time FINDING 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074920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E7143"/>
                </a:solidFill>
                <a:latin typeface="Aptos"/>
              </a:rPr>
              <a:t>Designer spends time SOLVING problems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870448"/>
            <a:ext cx="4114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5F6978"/>
                </a:solidFill>
                <a:latin typeface="Aptos"/>
              </a:rPr>
              <a:t>BEFORE: “What changed?”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870448"/>
            <a:ext cx="4663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C2A67"/>
                </a:solidFill>
                <a:latin typeface="Aptos"/>
              </a:rPr>
              <a:t>AFTER: “These 7 changes need review.”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978"/>
                </a:solidFill>
                <a:latin typeface="Aptos"/>
              </a:rPr>
              <a:t>FORMIQ AI  •  Kumkang Kind AI Innovation Challenge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CB4"/>
                </a:solidFill>
                <a:latin typeface="Aptos"/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C2A67"/>
                </a:solidFill>
                <a:latin typeface="Aptos"/>
              </a:rPr>
              <a:t>Start Small. Prove It. Then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88136"/>
            <a:ext cx="914400" cy="50292"/>
          </a:xfrm>
          <a:prstGeom prst="rect">
            <a:avLst/>
          </a:prstGeom>
          <a:solidFill>
            <a:srgbClr val="F25323"/>
          </a:solidFill>
          <a:ln>
            <a:solidFill>
              <a:srgbClr val="F25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154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154680" cy="713232"/>
          </a:xfrm>
          <a:prstGeom prst="rect">
            <a:avLst/>
          </a:prstGeom>
          <a:solidFill>
            <a:srgbClr val="185CB4"/>
          </a:solidFill>
          <a:ln>
            <a:solidFill>
              <a:srgbClr val="18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2788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2788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0C2A67"/>
                </a:solidFill>
                <a:latin typeface="Aptos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2788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Aptos"/>
              </a:rPr>
              <a:t>4–8 weeks*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73552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Historical drawings</a:t>
            </a:r>
          </a:p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5–10 critical checks</a:t>
            </a:r>
          </a:p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PDF/CAD comparison</a:t>
            </a:r>
          </a:p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Issue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08760"/>
            <a:ext cx="3154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508760"/>
            <a:ext cx="3154680" cy="713232"/>
          </a:xfrm>
          <a:prstGeom prst="rect">
            <a:avLst/>
          </a:prstGeom>
          <a:solidFill>
            <a:srgbClr val="F25323"/>
          </a:solidFill>
          <a:ln>
            <a:solidFill>
              <a:srgbClr val="F25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2788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95728"/>
            <a:ext cx="2788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0C2A67"/>
                </a:solidFill>
                <a:latin typeface="Aptos"/>
              </a:rP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70632"/>
            <a:ext cx="2788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Aptos"/>
              </a:rPr>
              <a:t>2–3 live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73552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Designer feedback</a:t>
            </a:r>
          </a:p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Accuracy testing</a:t>
            </a:r>
          </a:p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False-positive tracking</a:t>
            </a:r>
          </a:p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KPI measurement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154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1508760"/>
            <a:ext cx="3154680" cy="713232"/>
          </a:xfrm>
          <a:prstGeom prst="rect">
            <a:avLst/>
          </a:prstGeom>
          <a:solidFill>
            <a:srgbClr val="0E7143"/>
          </a:solidFill>
          <a:ln>
            <a:solidFill>
              <a:srgbClr val="0E7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627632"/>
            <a:ext cx="2788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395728"/>
            <a:ext cx="2788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0C2A67"/>
                </a:solidFill>
                <a:latin typeface="Aptos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770632"/>
            <a:ext cx="2788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Aptos"/>
              </a:rPr>
              <a:t>Company-wide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273552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CAD/BIM integration</a:t>
            </a:r>
          </a:p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More approved rules</a:t>
            </a:r>
          </a:p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Design Memory</a:t>
            </a:r>
          </a:p>
          <a:p>
            <a:pPr>
              <a:spcAft>
                <a:spcPts val="800"/>
              </a:spcAft>
              <a:defRPr sz="1400">
                <a:solidFill>
                  <a:srgbClr val="202834"/>
                </a:solidFill>
                <a:latin typeface="Aptos"/>
              </a:defRPr>
            </a:pPr>
            <a:r>
              <a:t>• Dashboard / workflow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13632" y="3520440"/>
            <a:ext cx="246888" cy="0"/>
          </a:xfrm>
          <a:prstGeom prst="line">
            <a:avLst/>
          </a:prstGeom>
          <a:ln w="3175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34072" y="3520440"/>
            <a:ext cx="246888" cy="0"/>
          </a:xfrm>
          <a:prstGeom prst="line">
            <a:avLst/>
          </a:prstGeom>
          <a:ln w="3175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5989320"/>
            <a:ext cx="7132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5F6978"/>
                </a:solidFill>
                <a:latin typeface="Aptos"/>
              </a:rPr>
              <a:t>*Illustrative planning assumption; actual duration depends on data, access and resources.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925312"/>
            <a:ext cx="4754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Prototype success = useful issues detected faster than fully manual first-pass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978"/>
                </a:solidFill>
                <a:latin typeface="Aptos"/>
              </a:rPr>
              <a:t>FORMIQ AI  •  Kumkang Kind AI Innovation Challenge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CB4"/>
                </a:solidFill>
                <a:latin typeface="Aptos"/>
              </a:rPr>
              <a:t>BUSINESS IMPACT /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C2A67"/>
                </a:solidFill>
                <a:latin typeface="Aptos"/>
              </a:rPr>
              <a:t>We Will Prove the Value With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88136"/>
            <a:ext cx="914400" cy="50292"/>
          </a:xfrm>
          <a:prstGeom prst="rect">
            <a:avLst/>
          </a:prstGeom>
          <a:solidFill>
            <a:srgbClr val="F25323"/>
          </a:solidFill>
          <a:ln>
            <a:solidFill>
              <a:srgbClr val="F25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42032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18488"/>
            <a:ext cx="2240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Revision review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965960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F6978"/>
                </a:solidFill>
                <a:latin typeface="Aptos"/>
              </a:rPr>
              <a:t>Productivity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1508760"/>
            <a:ext cx="2542032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618488"/>
            <a:ext cx="2240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Change detection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1965960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F6978"/>
                </a:solidFill>
                <a:latin typeface="Aptos"/>
              </a:rPr>
              <a:t>Reliability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508760"/>
            <a:ext cx="2542032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618488"/>
            <a:ext cx="2240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Missed-issue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65960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F6978"/>
                </a:solidFill>
                <a:latin typeface="Aptos"/>
              </a:rPr>
              <a:t>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576" y="1508760"/>
            <a:ext cx="2542032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618488"/>
            <a:ext cx="2240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False-positive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965960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F6978"/>
                </a:solidFill>
                <a:latin typeface="Aptos"/>
              </a:rPr>
              <a:t>Usability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2542032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2761488"/>
            <a:ext cx="2240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Pre-release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108960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F6978"/>
                </a:solidFill>
                <a:latin typeface="Aptos"/>
              </a:rPr>
              <a:t>Rework prevention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2651760"/>
            <a:ext cx="2542032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761488"/>
            <a:ext cx="2240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Report preparation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3108960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F6978"/>
                </a:solidFill>
                <a:latin typeface="Aptos"/>
              </a:rPr>
              <a:t>Productivity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2651760"/>
            <a:ext cx="2542032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761488"/>
            <a:ext cx="2240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Knowledge retrieval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108960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F6978"/>
                </a:solidFill>
                <a:latin typeface="Aptos"/>
              </a:rPr>
              <a:t>Knowledge reuse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0576" y="2651760"/>
            <a:ext cx="2542032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761488"/>
            <a:ext cx="2240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Designer acceptance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108960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F6978"/>
                </a:solidFill>
                <a:latin typeface="Aptos"/>
              </a:rPr>
              <a:t>Usefulness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77639"/>
            <a:ext cx="10607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0C2A67"/>
                </a:solidFill>
                <a:latin typeface="Aptos"/>
              </a:rPr>
              <a:t>Move detection left — before an issue reaches fabrication or site.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709160"/>
            <a:ext cx="2423160" cy="960120"/>
          </a:xfrm>
          <a:prstGeom prst="roundRect">
            <a:avLst/>
          </a:prstGeom>
          <a:solidFill>
            <a:srgbClr val="0E7143"/>
          </a:solidFill>
          <a:ln>
            <a:solidFill>
              <a:srgbClr val="0E7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46320"/>
            <a:ext cx="2240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93792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Lowest correction effort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46120" y="5184648"/>
            <a:ext cx="256032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566160" y="4709160"/>
            <a:ext cx="2423160" cy="960120"/>
          </a:xfrm>
          <a:prstGeom prst="roundRect">
            <a:avLst/>
          </a:prstGeom>
          <a:solidFill>
            <a:srgbClr val="185CB4"/>
          </a:solidFill>
          <a:ln>
            <a:solidFill>
              <a:srgbClr val="18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4846320"/>
            <a:ext cx="2240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FABRICATION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193792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Higher impact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35040" y="5184648"/>
            <a:ext cx="256032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55079" y="4709160"/>
            <a:ext cx="2423160" cy="960120"/>
          </a:xfrm>
          <a:prstGeom prst="roundRect">
            <a:avLst/>
          </a:prstGeom>
          <a:solidFill>
            <a:srgbClr val="E69623"/>
          </a:solidFill>
          <a:ln>
            <a:solidFill>
              <a:srgbClr val="E69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19" y="4846320"/>
            <a:ext cx="2240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19" y="5193792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Harder to recover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23959" y="5184648"/>
            <a:ext cx="256033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143999" y="4709160"/>
            <a:ext cx="2423160" cy="960120"/>
          </a:xfrm>
          <a:prstGeom prst="roundRect">
            <a:avLst/>
          </a:prstGeom>
          <a:solidFill>
            <a:srgbClr val="C22A2A"/>
          </a:solidFill>
          <a:ln>
            <a:solidFill>
              <a:srgbClr val="C2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39" y="4846320"/>
            <a:ext cx="2240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39" y="5193792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Rework / delay 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961888"/>
            <a:ext cx="97840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25323"/>
                </a:solidFill>
                <a:latin typeface="Aptos"/>
              </a:rPr>
              <a:t>No unsupported ‘90% saving’ claim — establish baseline, run pilot, measure actual improvement.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978"/>
                </a:solidFill>
                <a:latin typeface="Aptos"/>
              </a:rPr>
              <a:t>FORMIQ AI  •  Kumkang Kind AI Innovation Challenge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CB4"/>
                </a:solidFill>
                <a:latin typeface="Aptos"/>
              </a:rPr>
              <a:t>KUMKANG DESIGN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C2A67"/>
                </a:solidFill>
                <a:latin typeface="Aptos"/>
              </a:rPr>
              <a:t>Turn Previous Projects Into Reusable Design Knowledge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88136"/>
            <a:ext cx="914400" cy="50292"/>
          </a:xfrm>
          <a:prstGeom prst="rect">
            <a:avLst/>
          </a:prstGeom>
          <a:solidFill>
            <a:srgbClr val="F25323"/>
          </a:solidFill>
          <a:ln>
            <a:solidFill>
              <a:srgbClr val="F25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108960" cy="4343400"/>
          </a:xfrm>
          <a:prstGeom prst="round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CONTROLLED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Approved details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Closed RFIs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Resolved NCRs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Design standards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Approved previous solutions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3657600"/>
            <a:ext cx="640080" cy="0"/>
          </a:xfrm>
          <a:prstGeom prst="line">
            <a:avLst/>
          </a:prstGeom>
          <a:ln w="3175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00600" y="1965960"/>
            <a:ext cx="25603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2267712"/>
            <a:ext cx="19202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0C2A67"/>
                </a:solidFill>
                <a:latin typeface="Aptos"/>
              </a:rPr>
              <a:t>FORMIQ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926080"/>
            <a:ext cx="20116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02834"/>
                </a:solidFill>
                <a:latin typeface="Aptos"/>
              </a:rPr>
              <a:t>Searches for
similar approved
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343400"/>
            <a:ext cx="2011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E7143"/>
                </a:solidFill>
                <a:latin typeface="Aptos"/>
              </a:rPr>
              <a:t>Source-linked,
not invented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3657600"/>
            <a:ext cx="640080" cy="0"/>
          </a:xfrm>
          <a:prstGeom prst="line">
            <a:avLst/>
          </a:prstGeom>
          <a:ln w="3175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79" y="1508760"/>
            <a:ext cx="3246120" cy="4343400"/>
          </a:xfrm>
          <a:prstGeom prst="roundRect">
            <a:avLst/>
          </a:prstGeom>
          <a:solidFill>
            <a:srgbClr val="F7FA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8308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85CB4"/>
                </a:solidFill>
                <a:latin typeface="Aptos"/>
              </a:rPr>
              <a:t>SIMILAR CASE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23160"/>
            <a:ext cx="26060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02834"/>
                </a:solidFill>
                <a:latin typeface="Aptos"/>
              </a:rPr>
              <a:t>Project: KK-XXXX
Drawing: FW-42 Rev.03
RFI: RFI-017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520440"/>
            <a:ext cx="260604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A67"/>
                </a:solidFill>
                <a:latin typeface="Aptos"/>
              </a:rPr>
              <a:t>Condition:
Wall / opening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407408"/>
            <a:ext cx="2606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85CB4"/>
                </a:solidFill>
                <a:latin typeface="Aptos"/>
              </a:rPr>
              <a:t>View approved reference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937760"/>
            <a:ext cx="2606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C22A2A"/>
                </a:solidFill>
                <a:latin typeface="Aptos"/>
              </a:rPr>
              <a:t>Designer verification required before reuse.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978"/>
                </a:solidFill>
                <a:latin typeface="Aptos"/>
              </a:rPr>
              <a:t>FORMIQ AI  •  Kumkang Kind AI Innovation Challenge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A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A0D2FF"/>
                </a:solidFill>
                <a:latin typeface="Aptos"/>
              </a:rPr>
              <a:t>FORMIQ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80467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AI ASSISTS.
DESIGNER APPROVES.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154680"/>
            <a:ext cx="3657600" cy="2057400"/>
          </a:xfrm>
          <a:prstGeom prst="roundRect">
            <a:avLst/>
          </a:prstGeom>
          <a:solidFill>
            <a:srgbClr val="143A7E"/>
          </a:solidFill>
          <a:ln>
            <a:solidFill>
              <a:srgbClr val="559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01568"/>
            <a:ext cx="3108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977639"/>
            <a:ext cx="3200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CDE1FA"/>
                </a:solidFill>
                <a:latin typeface="Aptos"/>
              </a:rPr>
              <a:t>READ • COMPARE • CHECK
DETECT • PRIORITIZE • REPORT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09160" y="4160520"/>
            <a:ext cx="777240" cy="0"/>
          </a:xfrm>
          <a:prstGeom prst="line">
            <a:avLst/>
          </a:prstGeom>
          <a:ln w="3810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669280" y="3154680"/>
            <a:ext cx="2377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3429000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0C2A67"/>
                </a:solidFill>
                <a:latin typeface="Aptos"/>
              </a:rPr>
              <a:t>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886200"/>
            <a:ext cx="17373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02834"/>
                </a:solidFill>
                <a:latin typeface="Aptos"/>
              </a:rPr>
              <a:t>Verify
Judge
Decide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5320" y="4160520"/>
            <a:ext cx="731520" cy="0"/>
          </a:xfrm>
          <a:prstGeom prst="line">
            <a:avLst/>
          </a:prstGeom>
          <a:ln w="3810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89720" y="3154680"/>
            <a:ext cx="2103120" cy="2057400"/>
          </a:xfrm>
          <a:prstGeom prst="roundRect">
            <a:avLst/>
          </a:prstGeom>
          <a:solidFill>
            <a:srgbClr val="0E7143"/>
          </a:solidFill>
          <a:ln>
            <a:solidFill>
              <a:srgbClr val="0E7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3657600"/>
            <a:ext cx="1645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FINAL
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C8DCF5"/>
                </a:solidFill>
                <a:latin typeface="Aptos"/>
              </a:rPr>
              <a:t>No drawing is automatically approved or released by 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053328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25323"/>
                </a:solidFill>
                <a:latin typeface="Aptos"/>
              </a:rPr>
              <a:t>AUTOMATE THE CHECKING. NOT THE RESPONSIBILITY.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978"/>
                </a:solidFill>
                <a:latin typeface="Aptos"/>
              </a:rPr>
              <a:t>FORMIQ AI  •  Kumkang Kind AI Innovation Challenge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CB4"/>
                </a:solidFill>
                <a:latin typeface="Apto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C2A67"/>
                </a:solidFill>
                <a:latin typeface="Aptos"/>
              </a:rPr>
              <a:t>60–90 Second Prototype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88136"/>
            <a:ext cx="914400" cy="50292"/>
          </a:xfrm>
          <a:prstGeom prst="rect">
            <a:avLst/>
          </a:prstGeom>
          <a:solidFill>
            <a:srgbClr val="F25323"/>
          </a:solidFill>
          <a:ln>
            <a:solidFill>
              <a:srgbClr val="F25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33172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7335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ARCH REV-05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5F6978"/>
                </a:solidFill>
                <a:latin typeface="Aptos"/>
              </a:rPr>
              <a:t>D14 = 900 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33172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7335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ARCH REV-06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5740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25323"/>
                </a:solidFill>
                <a:latin typeface="Aptos"/>
              </a:rPr>
              <a:t>D14 = 1000 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233172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7335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C2A67"/>
                </a:solidFill>
                <a:latin typeface="Aptos"/>
              </a:rPr>
              <a:t>FORMWORK FW-L12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5F6978"/>
                </a:solidFill>
                <a:latin typeface="Aptos"/>
              </a:rPr>
              <a:t>D14 = 900 mm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0" y="2011680"/>
            <a:ext cx="640080" cy="0"/>
          </a:xfrm>
          <a:prstGeom prst="line">
            <a:avLst/>
          </a:prstGeom>
          <a:ln w="31750">
            <a:solidFill>
              <a:srgbClr val="F25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6840" y="1417320"/>
            <a:ext cx="2468880" cy="1234440"/>
          </a:xfrm>
          <a:prstGeom prst="round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645920"/>
            <a:ext cx="201168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FORMIQ
ANALYZE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154680"/>
            <a:ext cx="8458200" cy="475488"/>
          </a:xfrm>
          <a:prstGeom prst="roundRect">
            <a:avLst/>
          </a:prstGeom>
          <a:solidFill>
            <a:srgbClr val="EEF5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3227832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85CB4"/>
                </a:solidFill>
                <a:latin typeface="Aptos"/>
              </a:rPr>
              <a:t>CHANGE 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227832"/>
            <a:ext cx="5715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02834"/>
                </a:solidFill>
                <a:latin typeface="Aptos"/>
              </a:rPr>
              <a:t>900 → 1000 mm  (+100 mm)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813048"/>
            <a:ext cx="8458200" cy="475488"/>
          </a:xfrm>
          <a:prstGeom prst="roundRect">
            <a:avLst/>
          </a:prstGeom>
          <a:solidFill>
            <a:srgbClr val="FFF4F1"/>
          </a:solidFill>
          <a:ln>
            <a:solidFill>
              <a:srgbClr val="F0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388620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C22A2A"/>
                </a:solidFill>
                <a:latin typeface="Aptos"/>
              </a:rPr>
              <a:t>MISMATCH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886200"/>
            <a:ext cx="5715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02834"/>
                </a:solidFill>
                <a:latin typeface="Aptos"/>
              </a:rPr>
              <a:t>Latest Arch 1000 ≠ FW 900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471416"/>
            <a:ext cx="8458200" cy="475488"/>
          </a:xfrm>
          <a:prstGeom prst="roundRect">
            <a:avLst/>
          </a:prstGeom>
          <a:solidFill>
            <a:srgbClr val="FAF8EE"/>
          </a:solidFill>
          <a:ln>
            <a:solidFill>
              <a:srgbClr val="EB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4544568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E69623"/>
                </a:solidFill>
                <a:latin typeface="Aptos"/>
              </a:rPr>
              <a:t>POTENTIAL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544568"/>
            <a:ext cx="5715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02834"/>
                </a:solidFill>
                <a:latin typeface="Aptos"/>
              </a:rPr>
              <a:t>Opening • Panels • Dimensions • BOM*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129784"/>
            <a:ext cx="8458200" cy="475488"/>
          </a:xfrm>
          <a:prstGeom prst="roundRect">
            <a:avLst/>
          </a:prstGeom>
          <a:solidFill>
            <a:srgbClr val="F0F9F4"/>
          </a:solidFill>
          <a:ln>
            <a:solidFill>
              <a:srgbClr val="BE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5202936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E7143"/>
                </a:solidFill>
                <a:latin typeface="Aptos"/>
              </a:rPr>
              <a:t>DESIGNER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5202936"/>
            <a:ext cx="5715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02834"/>
                </a:solidFill>
                <a:latin typeface="Aptos"/>
              </a:rPr>
              <a:t>Generate marked-up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80760"/>
            <a:ext cx="6217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Aptos"/>
              </a:rPr>
              <a:t>*Only when BOM/fabrication data is linked or confirmed as released.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978"/>
                </a:solidFill>
                <a:latin typeface="Aptos"/>
              </a:rPr>
              <a:t>FORMIQ AI  •  Kumkang Kind AI Innovation Challenge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67"/>
          </a:solidFill>
          <a:ln>
            <a:solidFill>
              <a:srgbClr val="0C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4572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FORMIQ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98755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From Manual Drawing Checking
to Intelligent Design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46120"/>
            <a:ext cx="2331720" cy="1143000"/>
          </a:xfrm>
          <a:prstGeom prst="roundRect">
            <a:avLst/>
          </a:prstGeom>
          <a:solidFill>
            <a:srgbClr val="143A7E"/>
          </a:solidFill>
          <a:ln>
            <a:solidFill>
              <a:srgbClr val="468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93008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FASTER
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3246120"/>
            <a:ext cx="2331720" cy="1143000"/>
          </a:xfrm>
          <a:prstGeom prst="roundRect">
            <a:avLst/>
          </a:prstGeom>
          <a:solidFill>
            <a:srgbClr val="143A7E"/>
          </a:solidFill>
          <a:ln>
            <a:solidFill>
              <a:srgbClr val="468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493008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FEWER MISSED
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246120"/>
            <a:ext cx="2331720" cy="1143000"/>
          </a:xfrm>
          <a:prstGeom prst="roundRect">
            <a:avLst/>
          </a:prstGeom>
          <a:solidFill>
            <a:srgbClr val="143A7E"/>
          </a:solidFill>
          <a:ln>
            <a:solidFill>
              <a:srgbClr val="468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93008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STANDARDIZED
QC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246120"/>
            <a:ext cx="2331720" cy="1143000"/>
          </a:xfrm>
          <a:prstGeom prst="roundRect">
            <a:avLst/>
          </a:prstGeom>
          <a:solidFill>
            <a:srgbClr val="143A7E"/>
          </a:solidFill>
          <a:ln>
            <a:solidFill>
              <a:srgbClr val="468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3493008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REUSABLE
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AAD7FF"/>
                </a:solidFill>
                <a:latin typeface="Aptos"/>
              </a:rPr>
              <a:t>AI assists. Designers decide.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5323"/>
                </a:solidFill>
                <a:latin typeface="Aptos"/>
              </a:rPr>
              <a:t>Every drawing checked. Every revision traced. Every risk visible.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978"/>
                </a:solidFill>
                <a:latin typeface="Aptos"/>
              </a:rPr>
              <a:t>FORMIQ AI  •  Kumkang Kind AI Innovation Challenge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